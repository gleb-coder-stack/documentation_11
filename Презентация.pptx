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74" r:id="rId3"/>
    <p:sldId id="258" r:id="rId4"/>
    <p:sldId id="259" r:id="rId5"/>
    <p:sldId id="261" r:id="rId6"/>
    <p:sldId id="262" r:id="rId7"/>
    <p:sldId id="260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3AE779B8-B555-498C-8CEF-E2E54688DA1B}">
          <p14:sldIdLst>
            <p14:sldId id="256"/>
          </p14:sldIdLst>
        </p14:section>
        <p14:section name="Раздел оглавления" id="{4AC50DE8-ACA1-4855-8190-9937C7EFC183}">
          <p14:sldIdLst>
            <p14:sldId id="274"/>
          </p14:sldIdLst>
        </p14:section>
        <p14:section name="Постановка задачи" id="{9B9ECC4B-95F9-4E20-A22D-89EEF4BCD5D0}">
          <p14:sldIdLst>
            <p14:sldId id="258"/>
          </p14:sldIdLst>
        </p14:section>
        <p14:section name="Функциональный анализ" id="{52AAC600-BEBB-447E-9FE1-41453F943963}">
          <p14:sldIdLst>
            <p14:sldId id="259"/>
          </p14:sldIdLst>
        </p14:section>
        <p14:section name="Функциональный анализ" id="{C0A16956-CC6B-492C-B874-DADCFE88355C}">
          <p14:sldIdLst>
            <p14:sldId id="261"/>
          </p14:sldIdLst>
        </p14:section>
        <p14:section name="Функциональный анализ" id="{F323EB86-E3D1-4470-8C8B-BCC3520B4ABB}">
          <p14:sldIdLst>
            <p14:sldId id="262"/>
          </p14:sldIdLst>
        </p14:section>
        <p14:section name="Технология UML" id="{58F842D4-9990-47AA-9E28-331C35D7A7C8}">
          <p14:sldIdLst>
            <p14:sldId id="260"/>
          </p14:sldIdLst>
        </p14:section>
        <p14:section name="ER-модель" id="{D3E8E835-C57E-4654-81E1-D47F8C20AA11}">
          <p14:sldIdLst>
            <p14:sldId id="263"/>
          </p14:sldIdLst>
        </p14:section>
        <p14:section name="SQL-запросы" id="{339ED446-8A09-49DD-89CF-0C462AE8C7FB}">
          <p14:sldIdLst>
            <p14:sldId id="264"/>
          </p14:sldIdLst>
        </p14:section>
        <p14:section name="Хранимые процедуры и функции" id="{A4C30BB4-013D-44C3-96D1-C5D152CDD3F8}">
          <p14:sldIdLst>
            <p14:sldId id="265"/>
          </p14:sldIdLst>
        </p14:section>
        <p14:section name="Триггеры" id="{D42FBD58-82E6-4D1A-93C5-D6F736484533}">
          <p14:sldIdLst>
            <p14:sldId id="266"/>
          </p14:sldIdLst>
        </p14:section>
        <p14:section name="Пользователи и исключения" id="{39C565ED-E866-499B-BD91-1389ADC3684B}">
          <p14:sldIdLst>
            <p14:sldId id="267"/>
          </p14:sldIdLst>
        </p14:section>
        <p14:section name="Проектирование и разработка графовой бд" id="{064F3132-1B7F-4715-B4E8-792D6D353CC2}">
          <p14:sldIdLst>
            <p14:sldId id="268"/>
          </p14:sldIdLst>
        </p14:section>
        <p14:section name="Анализ и аналитика данных" id="{ECEAC35E-72E1-483B-A38A-9AE414776953}">
          <p14:sldIdLst>
            <p14:sldId id="269"/>
          </p14:sldIdLst>
        </p14:section>
        <p14:section name="Создание дашборда" id="{B9C9396C-64D7-494D-B0D8-14A9C9D9C6B4}">
          <p14:sldIdLst>
            <p14:sldId id="270"/>
          </p14:sldIdLst>
        </p14:section>
        <p14:section name="Работа с параметрами и расчетами" id="{866F362E-3B8D-4FA4-8880-717232C53190}">
          <p14:sldIdLst>
            <p14:sldId id="271"/>
          </p14:sldIdLst>
        </p14:section>
        <p14:section name="заключение" id="{494F1E17-D999-49AB-8108-30CC233D7015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slide" Target="slide4.xml"/><Relationship Id="rId26" Type="http://schemas.openxmlformats.org/officeDocument/2006/relationships/slide" Target="slide12.xml"/><Relationship Id="rId3" Type="http://schemas.openxmlformats.org/officeDocument/2006/relationships/image" Target="../media/image5.png"/><Relationship Id="rId21" Type="http://schemas.openxmlformats.org/officeDocument/2006/relationships/slide" Target="slide7.xml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slide" Target="slide3.xml"/><Relationship Id="rId25" Type="http://schemas.openxmlformats.org/officeDocument/2006/relationships/slide" Target="slide11.xml"/><Relationship Id="rId2" Type="http://schemas.openxmlformats.org/officeDocument/2006/relationships/image" Target="../media/image4.png"/><Relationship Id="rId16" Type="http://schemas.openxmlformats.org/officeDocument/2006/relationships/image" Target="../media/image18.png"/><Relationship Id="rId20" Type="http://schemas.openxmlformats.org/officeDocument/2006/relationships/slide" Target="slide6.xml"/><Relationship Id="rId29" Type="http://schemas.openxmlformats.org/officeDocument/2006/relationships/slide" Target="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24" Type="http://schemas.openxmlformats.org/officeDocument/2006/relationships/slide" Target="slide10.xml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23" Type="http://schemas.openxmlformats.org/officeDocument/2006/relationships/slide" Target="slide9.xml"/><Relationship Id="rId28" Type="http://schemas.openxmlformats.org/officeDocument/2006/relationships/slide" Target="slide14.xml"/><Relationship Id="rId10" Type="http://schemas.openxmlformats.org/officeDocument/2006/relationships/image" Target="../media/image12.png"/><Relationship Id="rId19" Type="http://schemas.openxmlformats.org/officeDocument/2006/relationships/slide" Target="slide5.xml"/><Relationship Id="rId31" Type="http://schemas.openxmlformats.org/officeDocument/2006/relationships/slide" Target="slide17.xml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Relationship Id="rId22" Type="http://schemas.openxmlformats.org/officeDocument/2006/relationships/slide" Target="slide8.xml"/><Relationship Id="rId27" Type="http://schemas.openxmlformats.org/officeDocument/2006/relationships/slide" Target="slide13.xml"/><Relationship Id="rId30" Type="http://schemas.openxmlformats.org/officeDocument/2006/relationships/slide" Target="slide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52A26A-977F-41E3-AEFC-53920023D6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568" y="1698043"/>
            <a:ext cx="9448863" cy="2568271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09.02.07</a:t>
            </a:r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уп.11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тема: «БД для онлайн продажи билетов в кинотеатре»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7065721-7364-467C-B84D-96B6DD505C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6761" y="4515901"/>
            <a:ext cx="4254873" cy="1288111"/>
          </a:xfrm>
        </p:spPr>
        <p:txBody>
          <a:bodyPr>
            <a:normAutofit/>
          </a:bodyPr>
          <a:lstStyle/>
          <a:p>
            <a:pPr algn="r"/>
            <a:r>
              <a:rPr lang="ru-RU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выполнил: 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 3 курса группы ИСП 23.1А</a:t>
            </a:r>
          </a:p>
          <a:p>
            <a:pPr algn="r"/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Феоктистов Глеб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2C03FF-6AD1-4D8E-BC1B-607B7AF9C856}"/>
              </a:ext>
            </a:extLst>
          </p:cNvPr>
          <p:cNvSpPr txBox="1"/>
          <p:nvPr/>
        </p:nvSpPr>
        <p:spPr>
          <a:xfrm>
            <a:off x="992125" y="278296"/>
            <a:ext cx="10207750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800"/>
              </a:spcAft>
            </a:pPr>
            <a:r>
              <a:rPr lang="ru-RU" sz="1600" b="1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Министерство образования Московской области</a:t>
            </a:r>
            <a:endParaRPr lang="ru-RU" sz="16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spcAft>
                <a:spcPts val="800"/>
              </a:spcAft>
            </a:pPr>
            <a:r>
              <a:rPr lang="ru-RU" sz="1600" b="1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ГОУ ВО МО «Государственный гуманитарно-технологический университет» (ГГТУ)</a:t>
            </a:r>
            <a:r>
              <a:rPr lang="ru-RU" sz="1600" b="1" u="sng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>
              <a:spcAft>
                <a:spcPts val="800"/>
              </a:spcAft>
            </a:pPr>
            <a:r>
              <a:rPr lang="ru-RU" sz="1600" b="1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Ликино-Дулевский политехнический колледж- филиал ГГТУ</a:t>
            </a:r>
            <a:endParaRPr lang="ru-RU" sz="16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D56A3B-C755-4B0D-8A87-BC46AF8EA528}"/>
              </a:ext>
            </a:extLst>
          </p:cNvPr>
          <p:cNvSpPr txBox="1"/>
          <p:nvPr/>
        </p:nvSpPr>
        <p:spPr>
          <a:xfrm>
            <a:off x="4752228" y="6210372"/>
            <a:ext cx="2687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г. Ликино-Дулево, 2026 г.</a:t>
            </a:r>
          </a:p>
        </p:txBody>
      </p:sp>
    </p:spTree>
    <p:extLst>
      <p:ext uri="{BB962C8B-B14F-4D97-AF65-F5344CB8AC3E}">
        <p14:creationId xmlns:p14="http://schemas.microsoft.com/office/powerpoint/2010/main" val="789380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846370-8AAF-4451-87AF-AD865F8FE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868377"/>
          </a:xfrm>
        </p:spPr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Оглавление</a:t>
            </a:r>
          </a:p>
        </p:txBody>
      </p:sp>
      <mc:AlternateContent xmlns:mc="http://schemas.openxmlformats.org/markup-compatibility/2006">
        <mc:Choice xmlns:psuz="http://schemas.microsoft.com/office/powerpoint/2016/summaryzoom" Requires="psuz">
          <p:graphicFrame>
            <p:nvGraphicFramePr>
              <p:cNvPr id="5" name="Интерактивное оглавление 4">
                <a:extLst>
                  <a:ext uri="{FF2B5EF4-FFF2-40B4-BE49-F238E27FC236}">
                    <a16:creationId xmlns:a16="http://schemas.microsoft.com/office/drawing/2014/main" id="{9CE5D864-56B7-4597-B274-910B858C485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95334318"/>
                  </p:ext>
                </p:extLst>
              </p:nvPr>
            </p:nvGraphicFramePr>
            <p:xfrm>
              <a:off x="914400" y="2366963"/>
              <a:ext cx="10363200" cy="3424237"/>
            </p:xfrm>
            <a:graphic>
              <a:graphicData uri="http://schemas.microsoft.com/office/powerpoint/2016/summaryzoom">
                <psuz:summaryZm>
                  <psuz:summaryZmObj sectionId="{9B9ECC4B-95F9-4E20-A22D-89EEF4BCD5D0}">
                    <psuz:zmPr id="{B998D0F9-AC3A-450B-A6DF-54F63847E79C}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478985" y="102727"/>
                          <a:ext cx="1826258" cy="1027271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52AAC600-BEBB-447E-9FE1-41453F943963}">
                    <psuz:zmPr id="{287F9130-F06A-4CF2-99D3-7F7D9487E880}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2373728" y="102727"/>
                          <a:ext cx="1826258" cy="1027271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C0A16956-CC6B-492C-B874-DADCFE88355C}">
                    <psuz:zmPr id="{E45E32BB-D6C4-4E72-B191-1D5937BC669A}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4268471" y="102727"/>
                          <a:ext cx="1826258" cy="1027271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F323EB86-E3D1-4470-8C8B-BCC3520B4ABB}">
                    <psuz:zmPr id="{6862EBEB-E7C4-4997-8EE8-9340F0568630}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6163214" y="102727"/>
                          <a:ext cx="1826258" cy="1027271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58F842D4-9990-47AA-9E28-331C35D7A7C8}">
                    <psuz:zmPr id="{8C3BD8E9-5FE9-4D95-A3DE-826F8D253AD9}" transitionDur="10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8057957" y="102727"/>
                          <a:ext cx="1826258" cy="1027271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D3E8E835-C57E-4654-81E1-D47F8C20AA11}">
                    <psuz:zmPr id="{D857DE5C-7A6A-45A0-A191-4AF8188446C3}" transitionDur="1000">
                      <p166:blipFill xmlns:p166="http://schemas.microsoft.com/office/powerpoint/2016/6/main">
                        <a:blip r:embed="rId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478985" y="1198483"/>
                          <a:ext cx="1826258" cy="1027271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339ED446-8A09-49DD-89CF-0C462AE8C7FB}">
                    <psuz:zmPr id="{9F2310F4-8DAF-41D3-89DD-B6A09B04A5D2}" transitionDur="100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2373728" y="1198483"/>
                          <a:ext cx="1826258" cy="1027271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A4C30BB4-013D-44C3-96D1-C5D152CDD3F8}">
                    <psuz:zmPr id="{0D388222-8266-4FA2-BEE5-3515A2770B05}" transitionDur="1000">
                      <p166:blipFill xmlns:p166="http://schemas.microsoft.com/office/powerpoint/2016/6/main">
                        <a:blip r:embed="rId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4268471" y="1198483"/>
                          <a:ext cx="1826258" cy="1027271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D42FBD58-82E6-4D1A-93C5-D6F736484533}">
                    <psuz:zmPr id="{42B1A8B2-ADB0-4112-A848-5C63DBCA39DC}" transitionDur="1000">
                      <p166:blipFill xmlns:p166="http://schemas.microsoft.com/office/powerpoint/2016/6/main">
                        <a:blip r:embed="rId10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6163214" y="1198483"/>
                          <a:ext cx="1826258" cy="1027271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39C565ED-E866-499B-BD91-1389ADC3684B}">
                    <psuz:zmPr id="{5E1678D6-8157-4066-B508-8E84EC76E77F}" transitionDur="1000">
                      <p166:blipFill xmlns:p166="http://schemas.microsoft.com/office/powerpoint/2016/6/main">
                        <a:blip r:embed="rId11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8057957" y="1198483"/>
                          <a:ext cx="1826258" cy="1027271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064F3132-1B7F-4715-B4E8-792D6D353CC2}">
                    <psuz:zmPr id="{3C5A51D2-2541-4C28-8A14-5305714BFCE3}" transitionDur="1000">
                      <p166:blipFill xmlns:p166="http://schemas.microsoft.com/office/powerpoint/2016/6/main">
                        <a:blip r:embed="rId1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478985" y="2294239"/>
                          <a:ext cx="1826258" cy="1027271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ECEAC35E-72E1-483B-A38A-9AE414776953}">
                    <psuz:zmPr id="{9EBC986E-C14B-4367-AEF5-F27783EA0075}" transitionDur="1000">
                      <p166:blipFill xmlns:p166="http://schemas.microsoft.com/office/powerpoint/2016/6/main">
                        <a:blip r:embed="rId1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2373728" y="2294239"/>
                          <a:ext cx="1826258" cy="1027271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B9C9396C-64D7-494D-B0D8-14A9C9D9C6B4}">
                    <psuz:zmPr id="{6F0E8BB1-122B-4506-8EF7-4ACD09C838A3}" transitionDur="1000">
                      <p166:blipFill xmlns:p166="http://schemas.microsoft.com/office/powerpoint/2016/6/main">
                        <a:blip r:embed="rId1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4268471" y="2294239"/>
                          <a:ext cx="1826258" cy="1027271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866F362E-3B8D-4FA4-8880-717232C53190}">
                    <psuz:zmPr id="{1C8B3E29-DA77-403F-97DD-2733EEE6471A}" transitionDur="1000">
                      <p166:blipFill xmlns:p166="http://schemas.microsoft.com/office/powerpoint/2016/6/main">
                        <a:blip r:embed="rId1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6163214" y="2294239"/>
                          <a:ext cx="1826258" cy="1027271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494F1E17-D999-49AB-8108-30CC233D7015}">
                    <psuz:zmPr id="{93F84CA1-BB52-4D7A-90E1-F238374425B3}" transitionDur="1000">
                      <p166:blipFill xmlns:p166="http://schemas.microsoft.com/office/powerpoint/2016/6/main">
                        <a:blip r:embed="rId1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8057957" y="2294239"/>
                          <a:ext cx="1826258" cy="1027271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gridLayout/>
                </psuz:summaryZm>
              </a:graphicData>
            </a:graphic>
          </p:graphicFrame>
        </mc:Choice>
        <mc:Fallback>
          <p:grpSp>
            <p:nvGrpSpPr>
              <p:cNvPr id="5" name="Интерактивное оглавление 4">
                <a:extLst>
                  <a:ext uri="{FF2B5EF4-FFF2-40B4-BE49-F238E27FC236}">
                    <a16:creationId xmlns:a16="http://schemas.microsoft.com/office/drawing/2014/main" id="{9CE5D864-56B7-4597-B274-910B858C485D}"/>
                  </a:ext>
                </a:extLst>
              </p:cNvPr>
              <p:cNvGrpSpPr>
                <a:grpSpLocks noGrp="1" noUngrp="1" noRot="1" noChangeAspect="1" noMove="1" noResize="1"/>
              </p:cNvGrpSpPr>
              <p:nvPr/>
            </p:nvGrpSpPr>
            <p:grpSpPr>
              <a:xfrm>
                <a:off x="914400" y="2366963"/>
                <a:ext cx="10363200" cy="3424237"/>
                <a:chOff x="914400" y="2366963"/>
                <a:chExt cx="10363200" cy="3424237"/>
              </a:xfrm>
            </p:grpSpPr>
            <p:pic>
              <p:nvPicPr>
                <p:cNvPr id="3" name="Рисунок 3">
                  <a:hlinkClick r:id="rId17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1393385" y="2469690"/>
                  <a:ext cx="1826258" cy="1027271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4" name="Рисунок 4">
                  <a:hlinkClick r:id="rId18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288128" y="2469690"/>
                  <a:ext cx="1826258" cy="1027271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6" name="Рисунок 6">
                  <a:hlinkClick r:id="rId19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182871" y="2469690"/>
                  <a:ext cx="1826258" cy="1027271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7" name="Рисунок 7">
                  <a:hlinkClick r:id="rId20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077614" y="2469690"/>
                  <a:ext cx="1826258" cy="1027271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8" name="Рисунок 8">
                  <a:hlinkClick r:id="rId21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972357" y="2469690"/>
                  <a:ext cx="1826258" cy="1027271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9" name="Рисунок 9">
                  <a:hlinkClick r:id="rId22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93385" y="3565446"/>
                  <a:ext cx="1826258" cy="1027271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0" name="Рисунок 10">
                  <a:hlinkClick r:id="rId23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288128" y="3565446"/>
                  <a:ext cx="1826258" cy="1027271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1" name="Рисунок 11">
                  <a:hlinkClick r:id="rId24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182871" y="3565446"/>
                  <a:ext cx="1826258" cy="1027271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2" name="Рисунок 12">
                  <a:hlinkClick r:id="rId25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077614" y="3565446"/>
                  <a:ext cx="1826258" cy="1027271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3" name="Рисунок 13">
                  <a:hlinkClick r:id="rId26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972357" y="3565446"/>
                  <a:ext cx="1826258" cy="1027271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4" name="Рисунок 14">
                  <a:hlinkClick r:id="rId27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393385" y="4661202"/>
                  <a:ext cx="1826258" cy="1027271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5" name="Рисунок 15">
                  <a:hlinkClick r:id="rId28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288128" y="4661202"/>
                  <a:ext cx="1826258" cy="1027271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6" name="Рисунок 16">
                  <a:hlinkClick r:id="rId29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182871" y="4661202"/>
                  <a:ext cx="1826258" cy="1027271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7" name="Рисунок 17">
                  <a:hlinkClick r:id="rId30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077614" y="4661202"/>
                  <a:ext cx="1826258" cy="1027271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8" name="Рисунок 18">
                  <a:hlinkClick r:id="rId31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972357" y="4661202"/>
                  <a:ext cx="1826258" cy="1027271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</p:grpSp>
        </mc:Fallback>
      </mc:AlternateContent>
    </p:spTree>
    <p:extLst>
      <p:ext uri="{BB962C8B-B14F-4D97-AF65-F5344CB8AC3E}">
        <p14:creationId xmlns:p14="http://schemas.microsoft.com/office/powerpoint/2010/main" val="339256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ACFF71-0BC6-435C-8640-6E4D465ED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149" y="452866"/>
            <a:ext cx="10364451" cy="613935"/>
          </a:xfrm>
        </p:spPr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Постановка задачи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A1539E-BB4E-40C7-A54E-911D77B455E4}"/>
              </a:ext>
            </a:extLst>
          </p:cNvPr>
          <p:cNvSpPr txBox="1"/>
          <p:nvPr/>
        </p:nvSpPr>
        <p:spPr>
          <a:xfrm>
            <a:off x="913149" y="1767006"/>
            <a:ext cx="10527527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Постановка задачи: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Спроектировать предметную область и разработать БД для онлайн-продажи билетов в кинотеатре.</a:t>
            </a: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Профессия, для которой разработана БД: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Кассир(основной), администратор, директор, программист.</a:t>
            </a: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Цель: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и спроектировать БД для продажи билетов в кинотеатре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8281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D43326-4A34-47A7-A762-FF2072CA7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645740"/>
          </a:xfrm>
        </p:spPr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Функциональный анализ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CB8273F-F8CB-4314-86DD-0A2485BF8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775" y="1448315"/>
            <a:ext cx="6520360" cy="498083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5D0BB92-BF85-4FB9-9F7F-1F719EC16E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0309" y="1264258"/>
            <a:ext cx="2122129" cy="5164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595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D43326-4A34-47A7-A762-FF2072CA7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645740"/>
          </a:xfrm>
        </p:spPr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Функциональный анализ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5E787CA-66DB-42EC-807A-EAFAD264A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729" y="2000875"/>
            <a:ext cx="5471812" cy="3660454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A04DF0B-35B0-4F8D-8932-7D17598BF9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179025"/>
            <a:ext cx="5679275" cy="1311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843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D43326-4A34-47A7-A762-FF2072CA7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645740"/>
          </a:xfrm>
        </p:spPr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Функциональный анализ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24B77C3-A078-400A-BA92-3B5BA46CBE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2167" y="1264258"/>
            <a:ext cx="5327666" cy="5477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510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BABD82-EAB3-4C57-9F08-CD09D29C4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733205"/>
          </a:xfrm>
        </p:spPr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Технология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EDF365C-FB84-4C0C-8D36-83BF669D6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7346" y="1351722"/>
            <a:ext cx="3683859" cy="5438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2762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BABD82-EAB3-4C57-9F08-CD09D29C4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733205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ER-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7038169-306C-471A-A468-10BE8C99F3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4370" y="1351722"/>
            <a:ext cx="6898425" cy="5171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9311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BABD82-EAB3-4C57-9F08-CD09D29C4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733205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SQL-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запросы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5686360-A359-4ED3-A36C-9AA417163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775" y="2386247"/>
            <a:ext cx="2219635" cy="2562583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1EE757D-A030-42AC-A7AD-9570731834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497" y="5049332"/>
            <a:ext cx="3276190" cy="11523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10339CE-CB9C-4092-B21C-CFF32FAB8F81}"/>
              </a:ext>
            </a:extLst>
          </p:cNvPr>
          <p:cNvSpPr txBox="1"/>
          <p:nvPr/>
        </p:nvSpPr>
        <p:spPr>
          <a:xfrm>
            <a:off x="588374" y="1639414"/>
            <a:ext cx="2870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Группировка проданных билетов по категориям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AF6BFD-49D7-4ECA-B68A-59B4C8D63BF0}"/>
              </a:ext>
            </a:extLst>
          </p:cNvPr>
          <p:cNvSpPr txBox="1"/>
          <p:nvPr/>
        </p:nvSpPr>
        <p:spPr>
          <a:xfrm>
            <a:off x="4157322" y="1639414"/>
            <a:ext cx="35240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Подзапрос, который находит фильмы в самом большом зале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056F8D-9722-484B-BDD9-C901E7850FB5}"/>
              </a:ext>
            </a:extLst>
          </p:cNvPr>
          <p:cNvSpPr txBox="1"/>
          <p:nvPr/>
        </p:nvSpPr>
        <p:spPr>
          <a:xfrm>
            <a:off x="7861454" y="1351722"/>
            <a:ext cx="37161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Соединение таблиц, выводящее полную информацию о каждом проданном билете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EF8E8BB-2B42-436B-B339-E5265D1107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5677" y="2348142"/>
            <a:ext cx="2457793" cy="2600688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C1AC3E8-5D3A-4A7E-A9BB-0C6DA6A091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2668" y="5239806"/>
            <a:ext cx="2523809" cy="771429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EE21D49-A443-4777-9944-01EF2B55BD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9836" y="2334034"/>
            <a:ext cx="2827004" cy="2758221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95C5987-0C28-404C-86D0-B3BC052257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8711" y="5140543"/>
            <a:ext cx="4489253" cy="1061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7364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BABD82-EAB3-4C57-9F08-CD09D29C4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733205"/>
          </a:xfrm>
        </p:spPr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Хранимые процедуры и функции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0339CE-CB9C-4092-B21C-CFF32FAB8F81}"/>
              </a:ext>
            </a:extLst>
          </p:cNvPr>
          <p:cNvSpPr txBox="1"/>
          <p:nvPr/>
        </p:nvSpPr>
        <p:spPr>
          <a:xfrm>
            <a:off x="913775" y="1494986"/>
            <a:ext cx="5118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Хранимая процедура – собирает статистику по каждому фильму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056F8D-9722-484B-BDD9-C901E7850FB5}"/>
              </a:ext>
            </a:extLst>
          </p:cNvPr>
          <p:cNvSpPr txBox="1"/>
          <p:nvPr/>
        </p:nvSpPr>
        <p:spPr>
          <a:xfrm>
            <a:off x="7060160" y="1371389"/>
            <a:ext cx="39265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Хранимая функция – возвращает общую сумму всех завершенных продаж по кинотеатру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02AF7DA-54EC-4884-8A16-6630E2C5B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81" y="2141317"/>
            <a:ext cx="2772906" cy="2850393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AE79AB3-AF0B-457C-9400-105BA8D501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8231" y="2386159"/>
            <a:ext cx="2539388" cy="3202106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BAF00843-5678-433E-B907-B4F231AAD0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9255" y="5771145"/>
            <a:ext cx="2588364" cy="522534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08D302F1-FE64-4084-A922-AE713086BE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7127" y="2606343"/>
            <a:ext cx="3259701" cy="1645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3625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BABD82-EAB3-4C57-9F08-CD09D29C4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733205"/>
          </a:xfrm>
        </p:spPr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Триггеры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0339CE-CB9C-4092-B21C-CFF32FAB8F81}"/>
              </a:ext>
            </a:extLst>
          </p:cNvPr>
          <p:cNvSpPr txBox="1"/>
          <p:nvPr/>
        </p:nvSpPr>
        <p:spPr>
          <a:xfrm>
            <a:off x="3680658" y="1232452"/>
            <a:ext cx="4830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Триггер проверки уникальности мест в зале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BB08097-7AB1-4BDD-968E-4930C59C0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8627" y="1782790"/>
            <a:ext cx="3814744" cy="460975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DA4F18C-DBB4-44A6-956E-D41034834C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6174" y="6483166"/>
            <a:ext cx="7519582" cy="180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666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BABD82-EAB3-4C57-9F08-CD09D29C4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733205"/>
          </a:xfrm>
        </p:spPr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Пользователи и исключения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29E7B5-D682-4178-9B11-3E01329547FE}"/>
              </a:ext>
            </a:extLst>
          </p:cNvPr>
          <p:cNvSpPr txBox="1"/>
          <p:nvPr/>
        </p:nvSpPr>
        <p:spPr>
          <a:xfrm>
            <a:off x="1590261" y="1478942"/>
            <a:ext cx="27113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пользователей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7AC5CF0-471F-4AB7-95AA-DADB71262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4084" y="1975494"/>
            <a:ext cx="3562408" cy="4623683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D2A2953-FFB7-4522-82C4-31806C4EDB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6371" y="2087080"/>
            <a:ext cx="3637924" cy="25421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F267FB9-D2F6-4353-A651-A59545FDA7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7714" y="4896415"/>
            <a:ext cx="2895238" cy="42857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1A1381D-9CB3-48BC-9312-ADB553437098}"/>
              </a:ext>
            </a:extLst>
          </p:cNvPr>
          <p:cNvSpPr txBox="1"/>
          <p:nvPr/>
        </p:nvSpPr>
        <p:spPr>
          <a:xfrm>
            <a:off x="7085459" y="1450577"/>
            <a:ext cx="3959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Обработка исключений в процедуре</a:t>
            </a:r>
          </a:p>
        </p:txBody>
      </p:sp>
    </p:spTree>
    <p:extLst>
      <p:ext uri="{BB962C8B-B14F-4D97-AF65-F5344CB8AC3E}">
        <p14:creationId xmlns:p14="http://schemas.microsoft.com/office/powerpoint/2010/main" val="21339331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BABD82-EAB3-4C57-9F08-CD09D29C4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733205"/>
          </a:xfrm>
        </p:spPr>
        <p:txBody>
          <a:bodyPr>
            <a:normAutofit fontScale="90000"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 и разработка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графовой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бд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4749124-B60A-4BBE-B504-4CCE353587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01" y="1532307"/>
            <a:ext cx="5327999" cy="5225537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A9C4B97-9D51-4EA9-AA66-66B505DE8F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9604" y="2059109"/>
            <a:ext cx="2436561" cy="4180374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7086C44-D995-4DBA-AA05-55AAC814F9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9769" y="3274407"/>
            <a:ext cx="3218832" cy="1741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9946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BABD82-EAB3-4C57-9F08-CD09D29C4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733205"/>
          </a:xfrm>
        </p:spPr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 аналитика данных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397738C-EC21-425B-AA87-65D5A29D08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728" y="1351722"/>
            <a:ext cx="3769544" cy="2565143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E7492A2-B8C4-4439-B483-92FCEE9A1E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1103" y="1212658"/>
            <a:ext cx="4222671" cy="2908221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A98C77A-E9F7-4C41-A329-8B23C4F66D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452" y="3973597"/>
            <a:ext cx="4302791" cy="2820792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8E4B394-5E62-4505-97D2-734337E9F0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9627" y="4140230"/>
            <a:ext cx="3925122" cy="2654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1668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BABD82-EAB3-4C57-9F08-CD09D29C4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733205"/>
          </a:xfrm>
        </p:spPr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дашборда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7C69986-0C66-4442-8615-92DC2848F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944" y="1415334"/>
            <a:ext cx="10432111" cy="5239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0846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BABD82-EAB3-4C57-9F08-CD09D29C4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733205"/>
          </a:xfrm>
        </p:spPr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 с параметрами и расчетами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1D3E7E1-F494-491F-B498-AD8FF1B5B1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189" y="1604919"/>
            <a:ext cx="10185621" cy="800192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6781766-482C-4D19-A078-143183D03D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457" y="2658308"/>
            <a:ext cx="4523085" cy="4067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3747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BABD82-EAB3-4C57-9F08-CD09D29C4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733205"/>
          </a:xfrm>
        </p:spPr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BD07E7-B23D-4E3F-899B-4FEE91292B10}"/>
              </a:ext>
            </a:extLst>
          </p:cNvPr>
          <p:cNvSpPr txBox="1"/>
          <p:nvPr/>
        </p:nvSpPr>
        <p:spPr>
          <a:xfrm>
            <a:off x="797781" y="1645920"/>
            <a:ext cx="1059643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ходе выполнения работы была спроектирована и реализована база данных для онлайн продажи билетов в кинотеатре.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результаты: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Разработана ER-модель БД, содержащая 10 взаимосвязанных таблиц.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Построены диаграммы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Использованы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запросы: группировка, подзапросы, соединение таблиц.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Реализованы хранимые процедуры и функции для автоматизации операций.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Написаны триггеры для контроля логики продаж и лояльности.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Настроены пользователи и права доступа в соответствии с ролями (директор, администратор, кассир, программист).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Выполнено проектирование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графовой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БД.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дашборд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разработанная БД позволяет эффективно управлять продажей билетов, контролировать занятость мест, вести учёт пользователей и сотрудников, а также получать аналитическую информацию.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32406332"/>
      </p:ext>
    </p:extLst>
  </p:cSld>
  <p:clrMapOvr>
    <a:masterClrMapping/>
  </p:clrMapOvr>
</p:sld>
</file>

<file path=ppt/theme/theme1.xml><?xml version="1.0" encoding="utf-8"?>
<a:theme xmlns:a="http://schemas.openxmlformats.org/drawingml/2006/main" name="Капля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270</Words>
  <Application>Microsoft Office PowerPoint</Application>
  <PresentationFormat>Широкоэкранный</PresentationFormat>
  <Paragraphs>49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2" baseType="lpstr">
      <vt:lpstr>Arial</vt:lpstr>
      <vt:lpstr>Calibri</vt:lpstr>
      <vt:lpstr>Times New Roman</vt:lpstr>
      <vt:lpstr>Tw Cen MT</vt:lpstr>
      <vt:lpstr>Капля</vt:lpstr>
      <vt:lpstr>09.02.07 уп.11 20 тема: «БД для онлайн продажи билетов в кинотеатре»</vt:lpstr>
      <vt:lpstr>Оглавление</vt:lpstr>
      <vt:lpstr>Постановка задачи</vt:lpstr>
      <vt:lpstr>Функциональный анализ</vt:lpstr>
      <vt:lpstr>Функциональный анализ</vt:lpstr>
      <vt:lpstr>Функциональный анализ</vt:lpstr>
      <vt:lpstr>Технология UML</vt:lpstr>
      <vt:lpstr>ER-модель</vt:lpstr>
      <vt:lpstr>SQL-запросы</vt:lpstr>
      <vt:lpstr>Хранимые процедуры и функции</vt:lpstr>
      <vt:lpstr>Триггеры</vt:lpstr>
      <vt:lpstr>Пользователи и исключения</vt:lpstr>
      <vt:lpstr>Проектирование и разработка графовой бд</vt:lpstr>
      <vt:lpstr>Анализ и аналитика данных</vt:lpstr>
      <vt:lpstr>Создание дашборда</vt:lpstr>
      <vt:lpstr>Работа с параметрами и расчетами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09.02.07 уп.11 20 тема: «БД для онлайн продажи билетов в кинотеатре»</dc:title>
  <dc:creator>Пользователь</dc:creator>
  <cp:lastModifiedBy>олег феоктистов</cp:lastModifiedBy>
  <cp:revision>1</cp:revision>
  <dcterms:modified xsi:type="dcterms:W3CDTF">2026-04-26T14:30:26Z</dcterms:modified>
</cp:coreProperties>
</file>